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  <p:embeddedFont>
      <p:font typeface="Open Sans 1 Bold" charset="1" panose="020B0806030504020204"/>
      <p:regular r:id="rId20"/>
    </p:embeddedFont>
    <p:embeddedFont>
      <p:font typeface="Open Sans 2" charset="1" panose="00000000000000000000"/>
      <p:regular r:id="rId21"/>
    </p:embeddedFont>
    <p:embeddedFont>
      <p:font typeface="Open Sans 1" charset="1" panose="020B0606030504020204"/>
      <p:regular r:id="rId22"/>
    </p:embeddedFont>
    <p:embeddedFont>
      <p:font typeface="Open Sans 2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https://res.cloudinary.com/dtsfiwmzt/image/upload/v1778466759/Diagrama_entidad-relaci%C3%B3n_fisico_lm5u8y.png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https://res.cloudinary.com/dtsfiwmzt/image/upload/v1783199288/betcore_db_model_json_diagram_final_rgdre9.png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0542" y="2644664"/>
            <a:ext cx="11023946" cy="1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sz="10608" u="sng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ControlBet</a:t>
            </a:r>
          </a:p>
        </p:txBody>
      </p:sp>
      <p:sp>
        <p:nvSpPr>
          <p:cNvPr name="AutoShape 6" id="6"/>
          <p:cNvSpPr/>
          <p:nvPr/>
        </p:nvSpPr>
        <p:spPr>
          <a:xfrm>
            <a:off x="890542" y="4925476"/>
            <a:ext cx="1466112" cy="0"/>
          </a:xfrm>
          <a:prstGeom prst="line">
            <a:avLst/>
          </a:prstGeom>
          <a:ln cap="rnd" w="1047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2997580" cy="907320"/>
            <a:chOff x="0" y="0"/>
            <a:chExt cx="916205" cy="27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6205" cy="277321"/>
            </a:xfrm>
            <a:custGeom>
              <a:avLst/>
              <a:gdLst/>
              <a:ahLst/>
              <a:cxnLst/>
              <a:rect r="r" b="b" t="t" l="l"/>
              <a:pathLst>
                <a:path h="277321" w="916205">
                  <a:moveTo>
                    <a:pt x="138660" y="0"/>
                  </a:moveTo>
                  <a:lnTo>
                    <a:pt x="777545" y="0"/>
                  </a:lnTo>
                  <a:cubicBezTo>
                    <a:pt x="814320" y="0"/>
                    <a:pt x="849589" y="14609"/>
                    <a:pt x="875592" y="40613"/>
                  </a:cubicBezTo>
                  <a:cubicBezTo>
                    <a:pt x="901596" y="66617"/>
                    <a:pt x="916205" y="101885"/>
                    <a:pt x="916205" y="138660"/>
                  </a:cubicBezTo>
                  <a:lnTo>
                    <a:pt x="916205" y="138660"/>
                  </a:lnTo>
                  <a:cubicBezTo>
                    <a:pt x="916205" y="215241"/>
                    <a:pt x="854125" y="277321"/>
                    <a:pt x="777545" y="277321"/>
                  </a:cubicBezTo>
                  <a:lnTo>
                    <a:pt x="138660" y="277321"/>
                  </a:lnTo>
                  <a:cubicBezTo>
                    <a:pt x="101885" y="277321"/>
                    <a:pt x="66617" y="262712"/>
                    <a:pt x="40613" y="236708"/>
                  </a:cubicBezTo>
                  <a:cubicBezTo>
                    <a:pt x="14609" y="210704"/>
                    <a:pt x="0" y="175436"/>
                    <a:pt x="0" y="138660"/>
                  </a:cubicBezTo>
                  <a:lnTo>
                    <a:pt x="0" y="138660"/>
                  </a:lnTo>
                  <a:cubicBezTo>
                    <a:pt x="0" y="101885"/>
                    <a:pt x="14609" y="66617"/>
                    <a:pt x="40613" y="40613"/>
                  </a:cubicBezTo>
                  <a:cubicBezTo>
                    <a:pt x="66617" y="14609"/>
                    <a:pt x="101885" y="0"/>
                    <a:pt x="138660" y="0"/>
                  </a:cubicBezTo>
                  <a:close/>
                </a:path>
              </a:pathLst>
            </a:custGeom>
            <a:ln w="76200" cap="rnd">
              <a:solidFill>
                <a:srgbClr val="FF575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6205" cy="315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0096119" y="2095119"/>
            <a:ext cx="8229600" cy="6096762"/>
          </a:xfrm>
          <a:custGeom>
            <a:avLst/>
            <a:gdLst/>
            <a:ahLst/>
            <a:cxnLst/>
            <a:rect r="r" b="b" t="t" l="l"/>
            <a:pathLst>
              <a:path h="6096762" w="8229600">
                <a:moveTo>
                  <a:pt x="0" y="0"/>
                </a:moveTo>
                <a:lnTo>
                  <a:pt x="8229600" y="0"/>
                </a:lnTo>
                <a:lnTo>
                  <a:pt x="8229600" y="6096762"/>
                </a:lnTo>
                <a:lnTo>
                  <a:pt x="0" y="609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87720"/>
            <a:ext cx="2997580" cy="56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0542" y="5650630"/>
            <a:ext cx="7532157" cy="271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Integrantes: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Yeissen Macalupu Marchan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Fabricio Rivera Rupay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Paula Chavez Pino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Brayan Huerta Cardenas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Giovanni Gallegos De La Cruz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0560" y="4086023"/>
            <a:ext cx="215294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Startup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868" y="2357048"/>
            <a:ext cx="4803145" cy="2391380"/>
            <a:chOff x="0" y="0"/>
            <a:chExt cx="1265026" cy="6298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026" cy="629828"/>
            </a:xfrm>
            <a:custGeom>
              <a:avLst/>
              <a:gdLst/>
              <a:ahLst/>
              <a:cxnLst/>
              <a:rect r="r" b="b" t="t" l="l"/>
              <a:pathLst>
                <a:path h="62982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565355"/>
                  </a:lnTo>
                  <a:cubicBezTo>
                    <a:pt x="1265026" y="600963"/>
                    <a:pt x="1236160" y="629828"/>
                    <a:pt x="1200552" y="629828"/>
                  </a:cubicBezTo>
                  <a:lnTo>
                    <a:pt x="64474" y="629828"/>
                  </a:lnTo>
                  <a:cubicBezTo>
                    <a:pt x="28866" y="629828"/>
                    <a:pt x="0" y="600963"/>
                    <a:pt x="0" y="56535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65026" cy="658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89436" y="2357048"/>
            <a:ext cx="4803145" cy="2391380"/>
            <a:chOff x="0" y="0"/>
            <a:chExt cx="1265026" cy="6298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026" cy="629828"/>
            </a:xfrm>
            <a:custGeom>
              <a:avLst/>
              <a:gdLst/>
              <a:ahLst/>
              <a:cxnLst/>
              <a:rect r="r" b="b" t="t" l="l"/>
              <a:pathLst>
                <a:path h="62982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565355"/>
                  </a:lnTo>
                  <a:cubicBezTo>
                    <a:pt x="1265026" y="600963"/>
                    <a:pt x="1236160" y="629828"/>
                    <a:pt x="1200552" y="629828"/>
                  </a:cubicBezTo>
                  <a:lnTo>
                    <a:pt x="64474" y="629828"/>
                  </a:lnTo>
                  <a:cubicBezTo>
                    <a:pt x="28866" y="629828"/>
                    <a:pt x="0" y="600963"/>
                    <a:pt x="0" y="56535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65026" cy="658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45003" y="2409866"/>
            <a:ext cx="4803145" cy="2391380"/>
            <a:chOff x="0" y="0"/>
            <a:chExt cx="1265026" cy="6298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026" cy="629828"/>
            </a:xfrm>
            <a:custGeom>
              <a:avLst/>
              <a:gdLst/>
              <a:ahLst/>
              <a:cxnLst/>
              <a:rect r="r" b="b" t="t" l="l"/>
              <a:pathLst>
                <a:path h="62982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565355"/>
                  </a:lnTo>
                  <a:cubicBezTo>
                    <a:pt x="1265026" y="600963"/>
                    <a:pt x="1236160" y="629828"/>
                    <a:pt x="1200552" y="629828"/>
                  </a:cubicBezTo>
                  <a:lnTo>
                    <a:pt x="64474" y="629828"/>
                  </a:lnTo>
                  <a:cubicBezTo>
                    <a:pt x="28866" y="629828"/>
                    <a:pt x="0" y="600963"/>
                    <a:pt x="0" y="56535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65026" cy="658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45898" y="5594453"/>
            <a:ext cx="4379085" cy="2901144"/>
          </a:xfrm>
          <a:custGeom>
            <a:avLst/>
            <a:gdLst/>
            <a:ahLst/>
            <a:cxnLst/>
            <a:rect r="r" b="b" t="t" l="l"/>
            <a:pathLst>
              <a:path h="2901144" w="4379085">
                <a:moveTo>
                  <a:pt x="0" y="0"/>
                </a:moveTo>
                <a:lnTo>
                  <a:pt x="4379084" y="0"/>
                </a:lnTo>
                <a:lnTo>
                  <a:pt x="4379084" y="2901143"/>
                </a:lnTo>
                <a:lnTo>
                  <a:pt x="0" y="290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76200" cap="sq">
            <a:solidFill>
              <a:srgbClr val="FF5757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689436" y="5702040"/>
            <a:ext cx="4701917" cy="2685970"/>
          </a:xfrm>
          <a:custGeom>
            <a:avLst/>
            <a:gdLst/>
            <a:ahLst/>
            <a:cxnLst/>
            <a:rect r="r" b="b" t="t" l="l"/>
            <a:pathLst>
              <a:path h="2685970" w="4701917">
                <a:moveTo>
                  <a:pt x="0" y="0"/>
                </a:moveTo>
                <a:lnTo>
                  <a:pt x="4701916" y="0"/>
                </a:lnTo>
                <a:lnTo>
                  <a:pt x="4701916" y="2685969"/>
                </a:lnTo>
                <a:lnTo>
                  <a:pt x="0" y="268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76200" cap="sq">
            <a:solidFill>
              <a:srgbClr val="FFBD59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933721" y="5702040"/>
            <a:ext cx="5025709" cy="2883501"/>
          </a:xfrm>
          <a:custGeom>
            <a:avLst/>
            <a:gdLst/>
            <a:ahLst/>
            <a:cxnLst/>
            <a:rect r="r" b="b" t="t" l="l"/>
            <a:pathLst>
              <a:path h="2883501" w="5025709">
                <a:moveTo>
                  <a:pt x="0" y="0"/>
                </a:moveTo>
                <a:lnTo>
                  <a:pt x="5025710" y="0"/>
                </a:lnTo>
                <a:lnTo>
                  <a:pt x="5025710" y="2883500"/>
                </a:lnTo>
                <a:lnTo>
                  <a:pt x="0" y="288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76200" cap="sq">
            <a:solidFill>
              <a:srgbClr val="889138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028700" y="728434"/>
            <a:ext cx="16230600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  <a:spcBef>
                <a:spcPct val="0"/>
              </a:spcBef>
            </a:pPr>
            <a:r>
              <a:rPr lang="en-US" b="true" sz="6999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Descripcion del problema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4941" y="3615080"/>
            <a:ext cx="3740998" cy="80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Información dispersa y poco estructurada en casas de apuestas.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20509" y="3615080"/>
            <a:ext cx="3740998" cy="80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Errores en registros, demoras en validaciones y riesgo de pérdidas monetarias.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6077" y="3667898"/>
            <a:ext cx="3740998" cy="80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Centralizar usuarios, apuestas, cuotas, pagos y resultados en una base de datos.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64941" y="2883939"/>
            <a:ext cx="3740998" cy="4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20509" y="2883939"/>
            <a:ext cx="3740998" cy="4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6077" y="2936757"/>
            <a:ext cx="3740998" cy="4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0098432" y="2092806"/>
            <a:ext cx="8224974" cy="6096762"/>
          </a:xfrm>
          <a:custGeom>
            <a:avLst/>
            <a:gdLst/>
            <a:ahLst/>
            <a:cxnLst/>
            <a:rect r="r" b="b" t="t" l="l"/>
            <a:pathLst>
              <a:path h="6096762" w="8224974">
                <a:moveTo>
                  <a:pt x="8224974" y="0"/>
                </a:moveTo>
                <a:lnTo>
                  <a:pt x="0" y="0"/>
                </a:lnTo>
                <a:lnTo>
                  <a:pt x="0" y="6096762"/>
                </a:lnTo>
                <a:lnTo>
                  <a:pt x="8224974" y="6096762"/>
                </a:lnTo>
                <a:lnTo>
                  <a:pt x="82249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3608659"/>
            <a:ext cx="3993505" cy="5645016"/>
            <a:chOff x="0" y="0"/>
            <a:chExt cx="698411" cy="98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411" cy="987238"/>
            </a:xfrm>
            <a:custGeom>
              <a:avLst/>
              <a:gdLst/>
              <a:ahLst/>
              <a:cxnLst/>
              <a:rect r="r" b="b" t="t" l="l"/>
              <a:pathLst>
                <a:path h="987238" w="698411">
                  <a:moveTo>
                    <a:pt x="77545" y="0"/>
                  </a:moveTo>
                  <a:lnTo>
                    <a:pt x="620866" y="0"/>
                  </a:lnTo>
                  <a:cubicBezTo>
                    <a:pt x="641432" y="0"/>
                    <a:pt x="661156" y="8170"/>
                    <a:pt x="675699" y="22712"/>
                  </a:cubicBezTo>
                  <a:cubicBezTo>
                    <a:pt x="690241" y="37255"/>
                    <a:pt x="698411" y="56979"/>
                    <a:pt x="698411" y="77545"/>
                  </a:cubicBezTo>
                  <a:lnTo>
                    <a:pt x="698411" y="909693"/>
                  </a:lnTo>
                  <a:cubicBezTo>
                    <a:pt x="698411" y="930259"/>
                    <a:pt x="690241" y="949983"/>
                    <a:pt x="675699" y="964526"/>
                  </a:cubicBezTo>
                  <a:cubicBezTo>
                    <a:pt x="661156" y="979068"/>
                    <a:pt x="641432" y="987238"/>
                    <a:pt x="620866" y="987238"/>
                  </a:cubicBezTo>
                  <a:lnTo>
                    <a:pt x="77545" y="987238"/>
                  </a:lnTo>
                  <a:cubicBezTo>
                    <a:pt x="34718" y="987238"/>
                    <a:pt x="0" y="952520"/>
                    <a:pt x="0" y="909693"/>
                  </a:cubicBezTo>
                  <a:lnTo>
                    <a:pt x="0" y="77545"/>
                  </a:lnTo>
                  <a:cubicBezTo>
                    <a:pt x="0" y="56979"/>
                    <a:pt x="8170" y="37255"/>
                    <a:pt x="22712" y="22712"/>
                  </a:cubicBezTo>
                  <a:cubicBezTo>
                    <a:pt x="37255" y="8170"/>
                    <a:pt x="56979" y="0"/>
                    <a:pt x="77545" y="0"/>
                  </a:cubicBezTo>
                  <a:close/>
                </a:path>
              </a:pathLst>
            </a:custGeom>
            <a:blipFill>
              <a:blip r:embed="rId4"/>
              <a:stretch>
                <a:fillRect l="-3663" t="-4156" r="-7679" b="0"/>
              </a:stretch>
            </a:blipFill>
            <a:ln w="76200" cap="rnd">
              <a:solidFill>
                <a:srgbClr val="FFBD59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885713"/>
            <a:ext cx="8955140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Solución: BetCoreDB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31003"/>
            <a:ext cx="5820689" cy="186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38" indent="-194319" lvl="1">
              <a:lnSpc>
                <a:spcPts val="3042"/>
              </a:lnSpc>
              <a:buAutoNum type="arabicPeriod" startAt="1"/>
            </a:pPr>
            <a:r>
              <a:rPr lang="en-US" sz="1800" spc="2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Centraliza la información del negocio.</a:t>
            </a:r>
          </a:p>
          <a:p>
            <a:pPr algn="l" marL="388638" indent="-194319" lvl="1">
              <a:lnSpc>
                <a:spcPts val="3042"/>
              </a:lnSpc>
              <a:buAutoNum type="arabicPeriod" startAt="1"/>
            </a:pPr>
            <a:r>
              <a:rPr lang="en-US" sz="1800" spc="2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Mejora el control de apuestas y pagos.</a:t>
            </a:r>
          </a:p>
          <a:p>
            <a:pPr algn="l" marL="388638" indent="-194319" lvl="1">
              <a:lnSpc>
                <a:spcPts val="3042"/>
              </a:lnSpc>
              <a:buAutoNum type="arabicPeriod" startAt="1"/>
            </a:pPr>
            <a:r>
              <a:rPr lang="en-US" sz="1800" spc="2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Reduce errores operativos.</a:t>
            </a:r>
          </a:p>
          <a:p>
            <a:pPr algn="l" marL="388638" indent="-194319" lvl="1">
              <a:lnSpc>
                <a:spcPts val="3042"/>
              </a:lnSpc>
              <a:buAutoNum type="arabicPeriod" startAt="1"/>
            </a:pPr>
            <a:r>
              <a:rPr lang="en-US" sz="1800" spc="2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Permite trazabilidad de cada operación.</a:t>
            </a:r>
          </a:p>
          <a:p>
            <a:pPr algn="l" marL="388638" indent="-194319" lvl="1">
              <a:lnSpc>
                <a:spcPts val="3042"/>
              </a:lnSpc>
              <a:buAutoNum type="arabicPeriod" startAt="1"/>
            </a:pPr>
            <a:r>
              <a:rPr lang="en-US" sz="1800" spc="2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Facilita consultas y reportes.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030503"/>
            <a:ext cx="5820689" cy="10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BetCore DB propone una base de datos relacional para organizar la información de usuarios, eventos deportivos, apuestas, cuotas, transacciones y comprobantes.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280457"/>
            <a:ext cx="582068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 de la 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" y="10001250"/>
            <a:ext cx="17773650" cy="24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4"/>
              </a:lnSpc>
              <a:spcBef>
                <a:spcPct val="0"/>
              </a:spcBef>
            </a:pPr>
            <a:r>
              <a:rPr lang="en-US" sz="139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cloud database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03708" y="4015472"/>
            <a:ext cx="4306934" cy="3544247"/>
          </a:xfrm>
          <a:custGeom>
            <a:avLst/>
            <a:gdLst/>
            <a:ahLst/>
            <a:cxnLst/>
            <a:rect r="r" b="b" t="t" l="l"/>
            <a:pathLst>
              <a:path h="3544247" w="4306934">
                <a:moveTo>
                  <a:pt x="0" y="0"/>
                </a:moveTo>
                <a:lnTo>
                  <a:pt x="4306934" y="0"/>
                </a:lnTo>
                <a:lnTo>
                  <a:pt x="4306934" y="3544248"/>
                </a:lnTo>
                <a:lnTo>
                  <a:pt x="0" y="3544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28725"/>
            <a:ext cx="9885889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Alcance del sistema de base de datos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57275" y="4058837"/>
          <a:ext cx="16202025" cy="5583333"/>
        </p:xfrm>
        <a:graphic>
          <a:graphicData uri="http://schemas.openxmlformats.org/drawingml/2006/table">
            <a:tbl>
              <a:tblPr/>
              <a:tblGrid>
                <a:gridCol w="5154071"/>
                <a:gridCol w="3682651"/>
                <a:gridCol w="3682651"/>
                <a:gridCol w="3682651"/>
              </a:tblGrid>
              <a:tr h="935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Criterio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b="true" sz="14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MySQL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b="true" sz="14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PostgreSQL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b="true" sz="14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SQL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15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Escalabilidad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Buena para apps web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Buena para modelos complejos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Adecuada para entornos transaccionales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Usuarios y privilegios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Roles y permisos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Permisos, auditoría, respaldo y recuperación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Compatibilidad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Requiere adaptar sintaxis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Requiere ajustes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Compatible con nuestro 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25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Facilidad de uso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Necesita adaptación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Necesita adaptación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Ejecutable en SQL Server Management Studio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00125" y="623853"/>
            <a:ext cx="16230600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del motor de </a:t>
            </a:r>
          </a:p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 de datos 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48319"/>
            <a:ext cx="16230600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362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¿Po</a:t>
            </a:r>
            <a:r>
              <a:rPr lang="en-US" b="true" sz="5199">
                <a:solidFill>
                  <a:srgbClr val="3362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 qué usamos SQL Server?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00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39286" y="4097245"/>
            <a:ext cx="4306934" cy="3544247"/>
          </a:xfrm>
          <a:custGeom>
            <a:avLst/>
            <a:gdLst/>
            <a:ahLst/>
            <a:cxnLst/>
            <a:rect r="r" b="b" t="t" l="l"/>
            <a:pathLst>
              <a:path h="3544247" w="4306934">
                <a:moveTo>
                  <a:pt x="0" y="0"/>
                </a:moveTo>
                <a:lnTo>
                  <a:pt x="4306934" y="0"/>
                </a:lnTo>
                <a:lnTo>
                  <a:pt x="4306934" y="3544248"/>
                </a:lnTo>
                <a:lnTo>
                  <a:pt x="0" y="3544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>
            <a:hlinkClick r:id="rId4" tooltip="https://res.cloudinary.com/dtsfiwmzt/image/upload/v1778466759/Diagrama_entidad-relaci%C3%B3n_fisico_lm5u8y.png"/>
          </p:cNvPr>
          <p:cNvSpPr/>
          <p:nvPr/>
        </p:nvSpPr>
        <p:spPr>
          <a:xfrm flipH="false" flipV="false" rot="0">
            <a:off x="1028700" y="3474874"/>
            <a:ext cx="7282775" cy="6117531"/>
          </a:xfrm>
          <a:custGeom>
            <a:avLst/>
            <a:gdLst/>
            <a:ahLst/>
            <a:cxnLst/>
            <a:rect r="r" b="b" t="t" l="l"/>
            <a:pathLst>
              <a:path h="6117531" w="7282775">
                <a:moveTo>
                  <a:pt x="0" y="0"/>
                </a:moveTo>
                <a:lnTo>
                  <a:pt x="7282775" y="0"/>
                </a:lnTo>
                <a:lnTo>
                  <a:pt x="7282775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28725"/>
            <a:ext cx="9885889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rama e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tidad-rel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ación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fisico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57275" y="3743487"/>
          <a:ext cx="16512762" cy="6205538"/>
        </p:xfrm>
        <a:graphic>
          <a:graphicData uri="http://schemas.openxmlformats.org/drawingml/2006/table">
            <a:tbl>
              <a:tblPr/>
              <a:tblGrid>
                <a:gridCol w="2678559"/>
                <a:gridCol w="3519659"/>
                <a:gridCol w="3544634"/>
                <a:gridCol w="3147814"/>
                <a:gridCol w="3622097"/>
              </a:tblGrid>
              <a:tr h="11629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T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ipo de base de datos NoSQL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Clave-valor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Familia de c</a:t>
                      </a:r>
                      <a:r>
                        <a:rPr lang="en-US" b="true" sz="15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5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rafos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Documental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05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Organiza los datos m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ediante pares de clave y valor. Es útil para accesos rápidos a datos simples.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Organiza los datos en col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umnas agrupadas, útil para grandes volúmenes analíticos.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R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epresenta datos mediante nodos y relaciones. Es útil cuando las conexiones entre entidades son el elemento principal.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Organiza la información en documentos flexibles, similares a JSON, permitiendo documentos embebidos y arreglos.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20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Evaluación para BetCore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No se considera la mejor opción, porque el proyecto r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equiere representar documentos con estructuras internas como usuario, local, moneda y selecciones.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No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es la opción más adecuada, ya que el proyecto necesita manejar documentos con datos relacionados y no únicamente columnas distribuidas.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N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o es la prioridad del proyecto, porque BetCore DB se enfoca más en registrar operaciones, apuestas y movimientos financieros que en analizar redes complejas de relaciones.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Es la opción más adecuada, porque permite modelar apuestas y movimientos financieros de forma clara, flexible y cercana a las consultas del negocio.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2A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00125" y="623853"/>
            <a:ext cx="16230600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</a:t>
            </a: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del motor de </a:t>
            </a:r>
          </a:p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 de datos NoSQL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75417"/>
            <a:ext cx="162306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362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¿Po</a:t>
            </a:r>
            <a:r>
              <a:rPr lang="en-US" b="true" sz="5199">
                <a:solidFill>
                  <a:srgbClr val="3362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 qué usamos MongoDB?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00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39286" y="4097245"/>
            <a:ext cx="4306934" cy="3544247"/>
          </a:xfrm>
          <a:custGeom>
            <a:avLst/>
            <a:gdLst/>
            <a:ahLst/>
            <a:cxnLst/>
            <a:rect r="r" b="b" t="t" l="l"/>
            <a:pathLst>
              <a:path h="3544247" w="4306934">
                <a:moveTo>
                  <a:pt x="0" y="0"/>
                </a:moveTo>
                <a:lnTo>
                  <a:pt x="4306934" y="0"/>
                </a:lnTo>
                <a:lnTo>
                  <a:pt x="4306934" y="3544248"/>
                </a:lnTo>
                <a:lnTo>
                  <a:pt x="0" y="3544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>
            <a:hlinkClick r:id="rId4" tooltip="https://res.cloudinary.com/dtsfiwmzt/image/upload/v1783199288/betcore_db_model_json_diagram_final_rgdre9.png"/>
          </p:cNvPr>
          <p:cNvSpPr/>
          <p:nvPr/>
        </p:nvSpPr>
        <p:spPr>
          <a:xfrm flipH="false" flipV="false" rot="0">
            <a:off x="1028700" y="2534960"/>
            <a:ext cx="7708071" cy="6640800"/>
          </a:xfrm>
          <a:custGeom>
            <a:avLst/>
            <a:gdLst/>
            <a:ahLst/>
            <a:cxnLst/>
            <a:rect r="r" b="b" t="t" l="l"/>
            <a:pathLst>
              <a:path h="6640800" w="7708071">
                <a:moveTo>
                  <a:pt x="0" y="0"/>
                </a:moveTo>
                <a:lnTo>
                  <a:pt x="7708071" y="0"/>
                </a:lnTo>
                <a:lnTo>
                  <a:pt x="7708071" y="6640800"/>
                </a:lnTo>
                <a:lnTo>
                  <a:pt x="0" y="6640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39" t="-6413" r="-11861" b="-1385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28725"/>
            <a:ext cx="12437204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Diagrama en Hackolade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00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40355" y="816923"/>
            <a:ext cx="1474504" cy="1305735"/>
          </a:xfrm>
          <a:custGeom>
            <a:avLst/>
            <a:gdLst/>
            <a:ahLst/>
            <a:cxnLst/>
            <a:rect r="r" b="b" t="t" l="l"/>
            <a:pathLst>
              <a:path h="1305735" w="1474504">
                <a:moveTo>
                  <a:pt x="0" y="0"/>
                </a:moveTo>
                <a:lnTo>
                  <a:pt x="1474504" y="0"/>
                </a:lnTo>
                <a:lnTo>
                  <a:pt x="1474504" y="1305735"/>
                </a:lnTo>
                <a:lnTo>
                  <a:pt x="0" y="130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26966"/>
            <a:ext cx="4918952" cy="5422701"/>
          </a:xfrm>
          <a:custGeom>
            <a:avLst/>
            <a:gdLst/>
            <a:ahLst/>
            <a:cxnLst/>
            <a:rect r="r" b="b" t="t" l="l"/>
            <a:pathLst>
              <a:path h="5422701" w="4918952">
                <a:moveTo>
                  <a:pt x="0" y="0"/>
                </a:moveTo>
                <a:lnTo>
                  <a:pt x="4918952" y="0"/>
                </a:lnTo>
                <a:lnTo>
                  <a:pt x="4918952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71578" y="5017713"/>
            <a:ext cx="4191471" cy="4611860"/>
          </a:xfrm>
          <a:custGeom>
            <a:avLst/>
            <a:gdLst/>
            <a:ahLst/>
            <a:cxnLst/>
            <a:rect r="r" b="b" t="t" l="l"/>
            <a:pathLst>
              <a:path h="4611860" w="4191471">
                <a:moveTo>
                  <a:pt x="0" y="0"/>
                </a:moveTo>
                <a:lnTo>
                  <a:pt x="4191471" y="0"/>
                </a:lnTo>
                <a:lnTo>
                  <a:pt x="4191471" y="4611859"/>
                </a:lnTo>
                <a:lnTo>
                  <a:pt x="0" y="4611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087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28725"/>
            <a:ext cx="10834455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Principales consultas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64104" y="3352913"/>
            <a:ext cx="3296900" cy="205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Permite identificar las apuestas que aún no han sido resueltas. Esto es útil para el seguimiento operativo, ya que ayuda a controlar qué apuestas todavía no han sido ganadas, perdidas, anuladas o canceladas.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64104" y="2655541"/>
            <a:ext cx="3740998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53113" y="5046288"/>
            <a:ext cx="191364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3113" y="2646016"/>
            <a:ext cx="3296900" cy="179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Esta consulta muestra las apuestas que actualmente se encuentran con estado PENDIENTE, incluyendo el código de ticket, usuario, monto apostado y fecha de registro.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00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40355" y="816923"/>
            <a:ext cx="1474504" cy="1305735"/>
          </a:xfrm>
          <a:custGeom>
            <a:avLst/>
            <a:gdLst/>
            <a:ahLst/>
            <a:cxnLst/>
            <a:rect r="r" b="b" t="t" l="l"/>
            <a:pathLst>
              <a:path h="1305735" w="1474504">
                <a:moveTo>
                  <a:pt x="0" y="0"/>
                </a:moveTo>
                <a:lnTo>
                  <a:pt x="1474504" y="0"/>
                </a:lnTo>
                <a:lnTo>
                  <a:pt x="1474504" y="1305735"/>
                </a:lnTo>
                <a:lnTo>
                  <a:pt x="0" y="130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47858"/>
            <a:ext cx="6870681" cy="5547340"/>
          </a:xfrm>
          <a:custGeom>
            <a:avLst/>
            <a:gdLst/>
            <a:ahLst/>
            <a:cxnLst/>
            <a:rect r="r" b="b" t="t" l="l"/>
            <a:pathLst>
              <a:path h="5547340" w="6870681">
                <a:moveTo>
                  <a:pt x="0" y="0"/>
                </a:moveTo>
                <a:lnTo>
                  <a:pt x="6870681" y="0"/>
                </a:lnTo>
                <a:lnTo>
                  <a:pt x="6870681" y="5547340"/>
                </a:lnTo>
                <a:lnTo>
                  <a:pt x="0" y="554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88236" y="4915852"/>
            <a:ext cx="4505985" cy="4884843"/>
          </a:xfrm>
          <a:custGeom>
            <a:avLst/>
            <a:gdLst/>
            <a:ahLst/>
            <a:cxnLst/>
            <a:rect r="r" b="b" t="t" l="l"/>
            <a:pathLst>
              <a:path h="4884843" w="4505985">
                <a:moveTo>
                  <a:pt x="0" y="0"/>
                </a:moveTo>
                <a:lnTo>
                  <a:pt x="4505986" y="0"/>
                </a:lnTo>
                <a:lnTo>
                  <a:pt x="4505986" y="4884843"/>
                </a:lnTo>
                <a:lnTo>
                  <a:pt x="0" y="488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28725"/>
            <a:ext cx="10834455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Principales consultas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2820" y="2666908"/>
            <a:ext cx="3296900" cy="12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Esta consulta permite buscar las apuestas registradas por un usuario específico mediante su número de documento.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6705" y="4944427"/>
            <a:ext cx="191364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62624" y="2676433"/>
            <a:ext cx="3740998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62624" y="3249026"/>
            <a:ext cx="5063195" cy="12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Es útil para atención al cliente, auditoría interna y seguimiento del comportamiento de los apostadores, ya que permite revisar el historial de apuestas de un usuario determinado.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00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40355" y="816923"/>
            <a:ext cx="1474504" cy="1305735"/>
          </a:xfrm>
          <a:custGeom>
            <a:avLst/>
            <a:gdLst/>
            <a:ahLst/>
            <a:cxnLst/>
            <a:rect r="r" b="b" t="t" l="l"/>
            <a:pathLst>
              <a:path h="1305735" w="1474504">
                <a:moveTo>
                  <a:pt x="0" y="0"/>
                </a:moveTo>
                <a:lnTo>
                  <a:pt x="1474504" y="0"/>
                </a:lnTo>
                <a:lnTo>
                  <a:pt x="1474504" y="1305735"/>
                </a:lnTo>
                <a:lnTo>
                  <a:pt x="0" y="130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43791"/>
            <a:ext cx="7439787" cy="5620892"/>
          </a:xfrm>
          <a:custGeom>
            <a:avLst/>
            <a:gdLst/>
            <a:ahLst/>
            <a:cxnLst/>
            <a:rect r="r" b="b" t="t" l="l"/>
            <a:pathLst>
              <a:path h="5620892" w="7439787">
                <a:moveTo>
                  <a:pt x="0" y="0"/>
                </a:moveTo>
                <a:lnTo>
                  <a:pt x="7439787" y="0"/>
                </a:lnTo>
                <a:lnTo>
                  <a:pt x="7439787" y="5620892"/>
                </a:lnTo>
                <a:lnTo>
                  <a:pt x="0" y="5620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80092" y="4932690"/>
            <a:ext cx="4999620" cy="2454359"/>
          </a:xfrm>
          <a:custGeom>
            <a:avLst/>
            <a:gdLst/>
            <a:ahLst/>
            <a:cxnLst/>
            <a:rect r="r" b="b" t="t" l="l"/>
            <a:pathLst>
              <a:path h="2454359" w="4999620">
                <a:moveTo>
                  <a:pt x="0" y="0"/>
                </a:moveTo>
                <a:lnTo>
                  <a:pt x="4999620" y="0"/>
                </a:lnTo>
                <a:lnTo>
                  <a:pt x="4999620" y="2454359"/>
                </a:lnTo>
                <a:lnTo>
                  <a:pt x="0" y="2454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28725"/>
            <a:ext cx="10834455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Principales consultas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0092" y="2662841"/>
            <a:ext cx="3296900" cy="154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Esta consulta busca los movimientos financieros asociados a una apuesta específica mediante el campo apuesta_id.</a:t>
            </a:r>
          </a:p>
          <a:p>
            <a:pPr algn="l">
              <a:lnSpc>
                <a:spcPts val="203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80092" y="4366694"/>
            <a:ext cx="191364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3861" y="2672366"/>
            <a:ext cx="3740998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62624" y="3249026"/>
            <a:ext cx="5063195" cy="12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800">
                <a:solidFill>
                  <a:srgbClr val="336276"/>
                </a:solidFill>
                <a:latin typeface="Open Sans 2"/>
                <a:ea typeface="Open Sans 2"/>
                <a:cs typeface="Open Sans 2"/>
                <a:sym typeface="Open Sans 2"/>
              </a:rPr>
              <a:t>Es útil para auditoría, atención de reclamos y validación de operaciones económicas relacionadas con una apuesta determinada, como pagos, premios o reembolsos.</a:t>
            </a:r>
          </a:p>
          <a:p>
            <a:pPr algn="l">
              <a:lnSpc>
                <a:spcPts val="203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58455"/>
            <a:ext cx="10747629" cy="1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sz="10608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80351"/>
            <a:ext cx="10747629" cy="15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b="true" sz="10608">
                <a:solidFill>
                  <a:srgbClr val="62A9C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gracias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7271530"/>
            <a:ext cx="1466112" cy="0"/>
          </a:xfrm>
          <a:prstGeom prst="line">
            <a:avLst/>
          </a:prstGeom>
          <a:ln cap="rnd" w="1047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10096119" y="2095119"/>
            <a:ext cx="8229600" cy="6096762"/>
          </a:xfrm>
          <a:custGeom>
            <a:avLst/>
            <a:gdLst/>
            <a:ahLst/>
            <a:cxnLst/>
            <a:rect r="r" b="b" t="t" l="l"/>
            <a:pathLst>
              <a:path h="6096762" w="8229600">
                <a:moveTo>
                  <a:pt x="0" y="0"/>
                </a:moveTo>
                <a:lnTo>
                  <a:pt x="8229600" y="0"/>
                </a:lnTo>
                <a:lnTo>
                  <a:pt x="8229600" y="6096762"/>
                </a:lnTo>
                <a:lnTo>
                  <a:pt x="0" y="609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DAHOxN8e_Cs</dc:identifier>
  <dcterms:modified xsi:type="dcterms:W3CDTF">2011-08-01T06:04:30Z</dcterms:modified>
  <cp:revision>1</cp:revision>
  <dc:title>TF - Diseño y Base de Datos</dc:title>
</cp:coreProperties>
</file>